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2015</c:v>
                </c:pt>
              </c:strCache>
            </c:strRef>
          </c:tx>
          <c:spPr>
            <a:solidFill>
              <a:srgbClr val="F4A261"/>
            </a:solidFill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 16</c:v>
                  </c:pt>
                  <c:pt idx="13">
                    <c:v>Feb 16</c:v>
                  </c:pt>
                  <c:pt idx="14">
                    <c:v>Mar 16</c:v>
                  </c:pt>
                  <c:pt idx="15">
                    <c:v>Apr 16</c:v>
                  </c:pt>
                  <c:pt idx="16">
                    <c:v>May 16</c:v>
                  </c:pt>
                  <c:pt idx="17">
                    <c:v>Jun 16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69793</c:v>
                </c:pt>
                <c:pt idx="1">
                  <c:v>65160</c:v>
                </c:pt>
                <c:pt idx="2">
                  <c:v>70397</c:v>
                </c:pt>
                <c:pt idx="3">
                  <c:v>68737</c:v>
                </c:pt>
                <c:pt idx="4">
                  <c:v>71403</c:v>
                </c:pt>
                <c:pt idx="5">
                  <c:v>68230</c:v>
                </c:pt>
                <c:pt idx="6">
                  <c:v>72558</c:v>
                </c:pt>
                <c:pt idx="7">
                  <c:v>68278</c:v>
                </c:pt>
                <c:pt idx="8">
                  <c:v>64180</c:v>
                </c:pt>
                <c:pt idx="9">
                  <c:v>64028</c:v>
                </c:pt>
                <c:pt idx="10">
                  <c:v>70395</c:v>
                </c:pt>
                <c:pt idx="11">
                  <c:v>64701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2016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 16</c:v>
                  </c:pt>
                  <c:pt idx="13">
                    <c:v>Feb 16</c:v>
                  </c:pt>
                  <c:pt idx="14">
                    <c:v>Mar 16</c:v>
                  </c:pt>
                  <c:pt idx="15">
                    <c:v>Apr 16</c:v>
                  </c:pt>
                  <c:pt idx="16">
                    <c:v>May 16</c:v>
                  </c:pt>
                  <c:pt idx="17">
                    <c:v>Jun 16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64701</c:v>
                </c:pt>
                <c:pt idx="12">
                  <c:v>67906</c:v>
                </c:pt>
                <c:pt idx="13">
                  <c:v>65049</c:v>
                </c:pt>
                <c:pt idx="14">
                  <c:v>67726</c:v>
                </c:pt>
                <c:pt idx="15">
                  <c:v>64387</c:v>
                </c:pt>
                <c:pt idx="16">
                  <c:v>67259</c:v>
                </c:pt>
                <c:pt idx="17">
                  <c:v>64452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C2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4A1942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Thai Chicken</c:v>
                  </c:pt>
                  <c:pt idx="1">
                    <c:v>BBQ Chicken</c:v>
                  </c:pt>
                  <c:pt idx="2">
                    <c:v>CA Chicken</c:v>
                  </c:pt>
                  <c:pt idx="3">
                    <c:v>Classic Deluxe</c:v>
                  </c:pt>
                  <c:pt idx="4">
                    <c:v>Spicy Italian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43434</c:v>
                </c:pt>
                <c:pt idx="1">
                  <c:v>42768</c:v>
                </c:pt>
                <c:pt idx="2">
                  <c:v>41410</c:v>
                </c:pt>
                <c:pt idx="3">
                  <c:v>38181</c:v>
                </c:pt>
                <c:pt idx="4">
                  <c:v>34831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5C2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4A1942"/>
        </a:solidFill>
        <a:ln>
          <a:noFill/>
        </a:ln>
        <a:effectLst/>
      </c:spPr>
    </c:plotArea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Spinach Pesto</c:v>
                  </c:pt>
                  <c:pt idx="1">
                    <c:v>Mediterranean</c:v>
                  </c:pt>
                  <c:pt idx="2">
                    <c:v>Spinach Supreme</c:v>
                  </c:pt>
                  <c:pt idx="3">
                    <c:v>Green Garden</c:v>
                  </c:pt>
                  <c:pt idx="4">
                    <c:v>Brie Carre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15596</c:v>
                </c:pt>
                <c:pt idx="1">
                  <c:v>15361</c:v>
                </c:pt>
                <c:pt idx="2">
                  <c:v>15278</c:v>
                </c:pt>
                <c:pt idx="3">
                  <c:v>13956</c:v>
                </c:pt>
                <c:pt idx="4">
                  <c:v>11589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5C2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4A1942"/>
        </a:solidFill>
        <a:ln>
          <a:noFill/>
        </a:ln>
        <a:effectLst/>
      </c:spPr>
    </c:plotArea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Chicken</c:v>
                </c:pt>
                <c:pt idx="3">
                  <c:v>Veggie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220053</c:v>
                </c:pt>
                <c:pt idx="1">
                  <c:v>208197</c:v>
                </c:pt>
                <c:pt idx="2">
                  <c:v>195920</c:v>
                </c:pt>
                <c:pt idx="3">
                  <c:v>193690</c:v>
                </c:pt>
              </c:numCache>
            </c:numRef>
          </c:val>
        </c:ser>
        <c:firstSliceAng val="0"/>
        <c:holeSize val="55"/>
      </c:doughnutChart>
      <c:spPr>
        <a:solidFill>
          <a:srgbClr val="4A194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</c:dPt>
          <c:dPt>
            <c:idx val="3"/>
            <c:bubble3D val="0"/>
            <c:spPr>
              <a:solidFill>
                <a:srgbClr val="D4A5C9"/>
              </a:solidFill>
              <a:effectLst/>
            </c:spPr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Large (L)</c:v>
                </c:pt>
                <c:pt idx="1">
                  <c:v>Medium (M)</c:v>
                </c:pt>
                <c:pt idx="2">
                  <c:v>Small (S)</c:v>
                </c:pt>
                <c:pt idx="3">
                  <c:v>XL</c:v>
                </c:pt>
                <c:pt idx="4">
                  <c:v>XXL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375319</c:v>
                </c:pt>
                <c:pt idx="1">
                  <c:v>249382</c:v>
                </c:pt>
                <c:pt idx="2">
                  <c:v>178077</c:v>
                </c:pt>
                <c:pt idx="3">
                  <c:v>14076</c:v>
                </c:pt>
                <c:pt idx="4">
                  <c:v>1007</c:v>
                </c:pt>
              </c:numCache>
            </c:numRef>
          </c:val>
        </c:ser>
        <c:firstSliceAng val="0"/>
        <c:holeSize val="55"/>
      </c:doughnutChart>
      <c:spPr>
        <a:solidFill>
          <a:srgbClr val="4A194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4A5C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Friday</c:v>
                  </c:pt>
                  <c:pt idx="1">
                    <c:v>Thursday</c:v>
                  </c:pt>
                  <c:pt idx="2">
                    <c:v>Saturday</c:v>
                  </c:pt>
                  <c:pt idx="3">
                    <c:v>Wednesday</c:v>
                  </c:pt>
                  <c:pt idx="4">
                    <c:v>Tuesday</c:v>
                  </c:pt>
                  <c:pt idx="5">
                    <c:v>Monday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136074</c:v>
                </c:pt>
                <c:pt idx="1">
                  <c:v>123529</c:v>
                </c:pt>
                <c:pt idx="2">
                  <c:v>123182</c:v>
                </c:pt>
                <c:pt idx="3">
                  <c:v>114408</c:v>
                </c:pt>
                <c:pt idx="4">
                  <c:v>114134</c:v>
                </c:pt>
                <c:pt idx="5">
                  <c:v>107330</c:v>
                </c:pt>
                <c:pt idx="6">
                  <c:v>99204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C2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4A1942"/>
        </a:solidFill>
        <a:ln>
          <a:noFill/>
        </a:ln>
        <a:effectLst/>
      </c:spPr>
    </c:plotArea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9C46A"/>
            </a:solidFill>
            <a:ln w="31750" cap="flat">
              <a:solidFill>
                <a:srgbClr val="E9C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C46A"/>
              </a:solidFill>
              <a:ln w="9525" cap="flat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10AM</c:v>
                  </c:pt>
                  <c:pt idx="1">
                    <c:v>11AM</c:v>
                  </c:pt>
                  <c:pt idx="2">
                    <c:v>12PM</c:v>
                  </c:pt>
                  <c:pt idx="3">
                    <c:v>1PM</c:v>
                  </c:pt>
                  <c:pt idx="4">
                    <c:v>2PM</c:v>
                  </c:pt>
                  <c:pt idx="5">
                    <c:v>3PM</c:v>
                  </c:pt>
                  <c:pt idx="6">
                    <c:v>4PM</c:v>
                  </c:pt>
                  <c:pt idx="7">
                    <c:v>5PM</c:v>
                  </c:pt>
                  <c:pt idx="8">
                    <c:v>6PM</c:v>
                  </c:pt>
                  <c:pt idx="9">
                    <c:v>7PM</c:v>
                  </c:pt>
                  <c:pt idx="10">
                    <c:v>8PM</c:v>
                  </c:pt>
                  <c:pt idx="11">
                    <c:v>9PM</c:v>
                  </c:pt>
                  <c:pt idx="12">
                    <c:v>10PM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756</c:v>
                </c:pt>
                <c:pt idx="1">
                  <c:v>1956</c:v>
                </c:pt>
                <c:pt idx="2">
                  <c:v>2520</c:v>
                </c:pt>
                <c:pt idx="3">
                  <c:v>2455</c:v>
                </c:pt>
                <c:pt idx="4">
                  <c:v>2126</c:v>
                </c:pt>
                <c:pt idx="5">
                  <c:v>1939</c:v>
                </c:pt>
                <c:pt idx="6">
                  <c:v>1648</c:v>
                </c:pt>
                <c:pt idx="7">
                  <c:v>2336</c:v>
                </c:pt>
                <c:pt idx="8">
                  <c:v>2399</c:v>
                </c:pt>
                <c:pt idx="9">
                  <c:v>2009</c:v>
                </c:pt>
                <c:pt idx="10">
                  <c:v>1555</c:v>
                </c:pt>
                <c:pt idx="11">
                  <c:v>855</c:v>
                </c:pt>
                <c:pt idx="12">
                  <c:v>135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C2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4A1942"/>
        </a:solidFill>
        <a:ln>
          <a:noFill/>
        </a:ln>
        <a:effectLst/>
      </c:spPr>
    </c:plotArea>
    <c:plotVisOnly val="1"/>
    <c:dispBlanksAs val="span"/>
  </c:chart>
  <c:spPr>
    <a:solidFill>
      <a:srgbClr val="4A19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Pizza Place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· 2015 Full 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188720"/>
            <a:ext cx="1783080" cy="109728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280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$817,860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0" y="18470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1188720"/>
            <a:ext cx="1783080" cy="109728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86600" y="1280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21,350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18470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560320"/>
            <a:ext cx="1783080" cy="109728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49,574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3218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560320"/>
            <a:ext cx="1783080" cy="109728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$38.31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3218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48,620 transaction records · Pizza category analysis · Forecast modeling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Questions Answered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Which pizza generates the most revenue?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Pizza leads at $43,434 — 3.7x more than the worst performer (Brie Carre at $11,589).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41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When do customers order the most?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28930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are 12 PM and 1 PM (lunch), and 6 PM (dinner). Friday is the #1 revenue day at $136,074.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Which pizza size drives the most sales?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(L) dominates at 46% of revenue ($375,319). XL and XXL together contribute only 1.8% — severely underperforming.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4028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13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 What is the veg vs non-veg split?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6090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 = 54% of revenue ($438,539) across 27,370 units. Veg = 46% ($379,321). Clear non-veg preference.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85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Q5: Which category performs best?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3250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($220K) leads, but Chicken ($196K) has a higher avg price point — better margin opportunity.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6400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85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Q6: What is the revenue trend and forecast?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3250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at ~$68K/month. July peaks at $72,558. Forecast for 2016 projects flat growth with ±$4.7K confidence range.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Revenue Trend &amp; 2016 Forecast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6217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914400"/>
            <a:ext cx="2240280" cy="804672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12280" y="9601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1887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12280" y="14447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$72,558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20840" y="1874520"/>
            <a:ext cx="2240280" cy="804672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19202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21488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October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12280" y="240487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$64,028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20840" y="2834640"/>
            <a:ext cx="2240280" cy="804672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12280" y="28803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12280" y="31089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$68,155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12280" y="33649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trend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20840" y="3794760"/>
            <a:ext cx="2240280" cy="804672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12280" y="384048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Forecast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12280" y="406908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~$66K/mo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12280" y="432511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±$4.7K range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Pizza Performance — Top vs Bottom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by Revenue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 5 by Revenue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05156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383280" y="2286000"/>
            <a:ext cx="2377440" cy="822960"/>
          </a:xfrm>
          <a:prstGeom prst="rect">
            <a:avLst/>
          </a:prstGeom>
          <a:solidFill>
            <a:srgbClr val="5C2050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383280" y="23042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3.7x revenue gap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83280" y="2679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#1 and #32 pizza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· Size · Veg vs Non-Veg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Category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" y="1005840"/>
          <a:ext cx="3108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91840" y="749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Pizza Size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108960" y="1005840"/>
          <a:ext cx="3108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Veg vs Non-Veg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1143000"/>
            <a:ext cx="256032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0080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Non-Veg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14904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$438,539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00800" y="1847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revenue · 27,370 units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400800" y="2468880"/>
            <a:ext cx="256032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0080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2816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$379,321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400800" y="3172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revenue · 22,204 units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 Customers Order? — Day &amp; Hour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Day of Week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749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 by Hour of Day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394960" y="1051560"/>
          <a:ext cx="3566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0" y="1234440"/>
            <a:ext cx="1554480" cy="804672"/>
          </a:xfrm>
          <a:prstGeom prst="rect">
            <a:avLst/>
          </a:prstGeom>
          <a:solidFill>
            <a:srgbClr val="5C2050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532120" y="1280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Peak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532120" y="1490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12–1 PM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32120" y="17647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2,520 orders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0" y="2240280"/>
            <a:ext cx="1554480" cy="804672"/>
          </a:xfrm>
          <a:prstGeom prst="rect">
            <a:avLst/>
          </a:prstGeom>
          <a:solidFill>
            <a:srgbClr val="5C2050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53212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Peak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532120" y="2496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7706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2,399 orders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5720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Friday-First Promotions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2252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earns $136K — 37% more than Sunday. Run deals on Thu–Fri to ride the natural demand peak instead of wasting discounts on low-traffic days.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41248"/>
            <a:ext cx="457200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6088" y="914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XL Pricing or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76088" y="12252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 + XXL = only 1.8% of revenue ($15K). Either customers don't know these exist or the price jump is too steep. Run a pricing audit and promote XL with upsell prompts.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12848"/>
            <a:ext cx="457200" cy="1234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22860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 the Bottom 5 SKUs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5968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pizzas earn $11K–$15K each vs $43K for Thai Chicken. Dead menu weight hurts kitchen efficiency. Cut them or repackage as limited-time bundle deals.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12848"/>
            <a:ext cx="457200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76088" y="22860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Upsell Chicken Category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088" y="25968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category ($196K) has higher avg prices than Classic ($220K). With targeted upsell prompts at lunch (12–1 PM), it could overtake Classic as the #1 category.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84448"/>
            <a:ext cx="457200" cy="1234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" y="3657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for Peak Windows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39684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peaks: Lunch 12–1 PM and Dinner 6 PM. Staff scheduling and prep should align to these windows. Off-peak hours (2–4 PM) are ideal for restocking and training.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4160520" cy="1234440"/>
          </a:xfrm>
          <a:prstGeom prst="rect">
            <a:avLst/>
          </a:prstGeom>
          <a:solidFill>
            <a:srgbClr val="5C2050"/>
          </a:solidFill>
          <a:ln w="12700">
            <a:solidFill>
              <a:srgbClr val="D4A5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84448"/>
            <a:ext cx="457200" cy="1234440"/>
          </a:xfrm>
          <a:prstGeom prst="rect">
            <a:avLst/>
          </a:prstGeom>
          <a:solidFill>
            <a:srgbClr val="D4A5C9"/>
          </a:solidFill>
          <a:ln w="12700">
            <a:solidFill>
              <a:srgbClr val="D4A5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76088" y="3657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Sep–Oct Revenue Dip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76088" y="39684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($64,180) and October ($64,028) are the two lowest months. Investigate if this is seasonal or operational — consider a targeted autumn campaign to plug the gap.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$817,860 total revenue from 21,350 orders — solid business with clear optimization opportunities.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739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Pizza is the #1 earner. Bottom 5 SKUs should be cut or repriced.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68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865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+ lunch &amp; dinner peaks are your golden windows. Align staffing and promos accordingly.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0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size = 46% of revenue. XL/XXL sizes are invisible — fix pricing or marketing.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93592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 dominates at 54%. Chicken category has headroom to grow with upsell strategy.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0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2245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stable. 2016 forecast is flat — growth requires deliberate action, not just time.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· Pizza Place Sales · 2015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Place Sales Dashboard</dc:title>
  <dc:subject>PptxGenJS Presentation</dc:subject>
  <dc:creator>PptxGenJS</dc:creator>
  <cp:lastModifiedBy>PptxGenJS</cp:lastModifiedBy>
  <cp:revision>1</cp:revision>
  <dcterms:created xsi:type="dcterms:W3CDTF">2026-04-14T11:09:28Z</dcterms:created>
  <dcterms:modified xsi:type="dcterms:W3CDTF">2026-04-14T11:09:28Z</dcterms:modified>
</cp:coreProperties>
</file>